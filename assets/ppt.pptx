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70" r:id="rId6"/>
    <p:sldId id="272" r:id="rId7"/>
    <p:sldId id="273" r:id="rId8"/>
    <p:sldId id="274" r:id="rId9"/>
    <p:sldId id="275" r:id="rId10"/>
    <p:sldId id="276" r:id="rId11"/>
    <p:sldId id="277" r:id="rId12"/>
    <p:sldId id="280" r:id="rId13"/>
    <p:sldId id="281" r:id="rId14"/>
    <p:sldId id="282" r:id="rId15"/>
    <p:sldId id="278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1F7"/>
    <a:srgbClr val="003973"/>
    <a:srgbClr val="2A76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78" autoAdjust="0"/>
    <p:restoredTop sz="71723" autoAdjust="0"/>
  </p:normalViewPr>
  <p:slideViewPr>
    <p:cSldViewPr snapToGrid="0">
      <p:cViewPr varScale="1">
        <p:scale>
          <a:sx n="65" d="100"/>
          <a:sy n="65" d="100"/>
        </p:scale>
        <p:origin x="10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2E333-4780-4DA2-AF03-BD6E55B3FF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D8F08-31C3-4491-A389-E326AA59CF2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Good morning, everyone. I am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Ruichen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Ma from the University of Electronic Science and Technology of China.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It is a great honor to present our work: I2E, a novel framework for Real-Time Image-to-Event Conversion for High-Performance Spiking Neural Networks.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D8F08-31C3-4491-A389-E326AA59CF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Spiking Neural Networks are well known for their energy efficiency and potential for green AI.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However, their practical use faces a big drawback: the lack of high-quality and large-scale event data.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Existing neuromorphic datasets are insufficient for training deep and complex models successfully, and standard data collection methods have big limitations.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For example, DVS sensors are costly, have low resolution, and require long capture times.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Alternatively, existing conversion algorithms, such as ODG, provide a software solution but are computationally heavy.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Their high latency makes them impractical for integration into real-time training pipelines. This forces researchers to rely on small or synthetic datasets that do not fully capture the complexity of real-world vision.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D8F08-31C3-4491-A389-E326AA59CF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To resolve this bottleneck, we introduce I2E.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Our primary objective is Extreme Efficiency.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I2E is a framework optimized to convert static images into high-quality event streams in real-time on modern GPUs.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This real-time capability is a breakthrough because it enables On-the-fly Data Augmentation.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 standard Deep Learning, techniques like random cropping and flipping are essential for robust training.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Before I2E, applying these augmentations to SNNs was impossible due to the slow conversion process.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Our framework removes this barrier, allowing us to use standard augmentation pipelines to train deeper and stronger SNNs.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D8F08-31C3-4491-A389-E326AA59CF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The core innovation of I2E lies in its modeling of event generation.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The method is inspired by biological vision, specifically the tiny eye movements that human eyes make to see detail.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 our framework, we simulate this process mathematically.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Instead of shifting pixels in memory—which is a slow operation—we define this movement as a Spatial Convolution.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We construct a sparse difference kernel to represent different motions.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By using convolution on the image intensity map, we compute the temporal changes in a single pass.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This formulation reduces the complexity to O(1) (Oh-of-one) per pixel.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Being highly parallel, this approach runs extremely fast on hardware like GPUs.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D8F08-31C3-4491-A389-E326AA59CF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Beyond speed, keeping signal quality is essential. A common challenge in conversion is selecting the suitable firing threshold. A fixed global threshold often fails to capture details in </a:t>
            </a:r>
            <a:r>
              <a:rPr lang="en-US" altLang="zh-CN" sz="2800"/>
              <a:t>low-contrast areas </a:t>
            </a:r>
            <a:r>
              <a:rPr lang="en-US" altLang="zh-CN" sz="2800" dirty="0"/>
              <a:t>or creates noise in high-contrast areas.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zh-CN" sz="2800" dirty="0"/>
              <a:t>To address this, we propose </a:t>
            </a:r>
            <a:r>
              <a:rPr lang="en-US" altLang="zh-CN" sz="2800" b="1" dirty="0"/>
              <a:t>Adaptive Thresholding</a:t>
            </a:r>
            <a:r>
              <a:rPr lang="en-US" altLang="zh-CN" sz="2800" dirty="0"/>
              <a:t>.</a:t>
            </a:r>
            <a:endParaRPr lang="en-US" altLang="zh-CN" sz="2800" dirty="0"/>
          </a:p>
          <a:p>
            <a:r>
              <a:rPr lang="en-US" altLang="zh-CN" sz="2800" dirty="0"/>
              <a:t>Our method dynamically </a:t>
            </a:r>
            <a:r>
              <a:rPr lang="en-US" altLang="zh-CN" sz="2800" b="1" dirty="0"/>
              <a:t>adjusts</a:t>
            </a:r>
            <a:r>
              <a:rPr lang="en-US" altLang="zh-CN" sz="2800" dirty="0"/>
              <a:t> the sensitivity based on the </a:t>
            </a:r>
            <a:r>
              <a:rPr lang="en-US" altLang="zh-CN" sz="2800" b="1" dirty="0"/>
              <a:t>local contrast range</a:t>
            </a:r>
            <a:r>
              <a:rPr lang="en-US" altLang="zh-CN" sz="2800" dirty="0"/>
              <a:t> of each input image.</a:t>
            </a:r>
            <a:endParaRPr lang="en-US" altLang="zh-CN" sz="2800" dirty="0"/>
          </a:p>
          <a:p>
            <a:r>
              <a:rPr lang="en-US" altLang="zh-CN" sz="2800" dirty="0"/>
              <a:t>It ensures that regardless of the lighting conditions, the generated event streams keep sharp contours and rich textures.</a:t>
            </a:r>
            <a:endParaRPr lang="en-US" altLang="zh-CN" sz="2800" dirty="0"/>
          </a:p>
          <a:p>
            <a:r>
              <a:rPr lang="en-US" altLang="zh-CN" sz="2800" dirty="0"/>
              <a:t>This high signal-to-noise ratio is vital for training high-performance models.</a:t>
            </a:r>
            <a:endParaRPr lang="en-US" altLang="zh-CN" sz="2800" dirty="0"/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D8F08-31C3-4491-A389-E326AA59CF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Our experimental results confirm the huge efficiency gains of the method.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As shown in the comparison, physical DVS hardware typically requires about 3000 milliseconds to capture a stable stream.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Existing algorithms take around 30 milliseconds, which remains a bottleneck for training.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 contrast, I2E completes the conversion in just 0.1 milliseconds.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This represents a thirty-thousand-fold speedup compared to hardware capture and a 300-fold improvement over existing algorithms.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Moreover, this efficiency translates directly to energy savings.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Our method reduces the energy consumption of the first layer by 19 times compared to standard artificial neural networks, making it a key enabler for scalable and low-power neuromorphic systems.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D8F08-31C3-4491-A389-E326AA59CF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We tested I2E on the large-scale ImageNet benchmark, comparing it against existing event-stream datasets such as N-ImageNet and ES-ImageNet.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By training a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ResNet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SNN on our generated data, we achieved a Top-1 accuracy of 60.50%.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This result significantly outperforms all previous baselines, establishing a new state-of-the-art in this domain.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It demonstrates that our synthetic data is not only fast to generate but also rich in useful features required for complex classification tasks.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D8F08-31C3-4491-A389-E326AA59CF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 critical contribution of this work is the validation of the Sim-to-Real transfer paradigm.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 central challenge in the field is determining whether synthetic data can successfully train models for real-world sensors.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We addressed this through a detailed transfer learning experiment.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After pre-training a model on our synthetic I2E data, we fine-tuned it on the real-world DVS-CIFAR10 dataset.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The outcome was highly successful: we achieved 92.5% accuracy on the DVS-CIFAR10 dataset.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This confirms that our synthetic data serves as a high-fidelity proxy for real-world events, effectively bridging the domain gap and allowing researchers to develop robust models without relying on expensive hardware data.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D8F08-31C3-4491-A389-E326AA59CF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To further validate our method, we conducted an ablation study to analyze the impact of our core conversion module combined with data augmentation.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As shown in this slide, even without applying data augmentation, our proposed I2E conversion method already achieves comparable accuracy to previous state-of-the-art works.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This shows that our bio-inspired modeling is more effective at capturing informative events.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When we enable the standard data augmentation pipeline—which is only possible due to our real-time speed—the performance improves by another 10%.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This highlights that I2E provides two key benefits: a better conversion method and the capability to leverage powerful deep learning augmentation strategies.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D8F08-31C3-4491-A389-E326AA59CF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We also  examined how temporal settings affect performance.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Specifically, we analyzed the order of event frames and the number of timesteps.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First, regarding the sequence.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Our studies show that the order matters.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We found that placing frames with higher event rates at the beginning and end, while keeping lower-rate frames in the middle, gives the best results.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Second, we tested reducing the number of timesteps.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As shown in the chart, even with just **2** timesteps, the model keeps an accuracy of about 52%.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At this level, the data compression ratio exceeds **90%**.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This means I2E not only **speeds up** computation but also provides massive storage savings due to its sparsity."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D8F08-31C3-4491-A389-E326AA59CF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To visualize the quality, we show some conversion examples here.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As you can see our method effectively converts static images into sparse event streams.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Thanks to the Adaptive Thresholding, the fine details and sharp contours of the objects are well preserved.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At the same time, the background remains relatively clean, without heavy noise.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D8F08-31C3-4491-A389-E326AA59CF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 conclusion, I2E resolves the long-standing data bottleneck in SNN research. It provides a 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fast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scalable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 and 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high-quality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solution for the community.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We have released </a:t>
            </a:r>
            <a:r>
              <a:rPr lang="en-US" altLang="zh-CN" sz="1800" b="1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all I2E datasets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 and our goal is to build a foundational toolkit that speed up future research. We invite you to scan the QR code to access our open-source code and pre-trained models. Thank you for your attention.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BD8F08-31C3-4491-A389-E326AA59CF2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2139D-35CD-4186-B88F-01DC217A45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17E71-F020-4668-B963-2EF94B11339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hyperlink" Target="https://github.com/Ruichen0424/I2E" TargetMode="Externa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8.GIF"/><Relationship Id="rId6" Type="http://schemas.openxmlformats.org/officeDocument/2006/relationships/image" Target="../media/image7.GIF"/><Relationship Id="rId5" Type="http://schemas.openxmlformats.org/officeDocument/2006/relationships/image" Target="../media/image6.GIF"/><Relationship Id="rId4" Type="http://schemas.openxmlformats.org/officeDocument/2006/relationships/image" Target="../media/image5.GIF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hemeOverride" Target="../theme/themeOverride1.xml"/><Relationship Id="rId7" Type="http://schemas.openxmlformats.org/officeDocument/2006/relationships/image" Target="../media/image17.png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14.png"/><Relationship Id="rId11" Type="http://schemas.openxmlformats.org/officeDocument/2006/relationships/notesSlide" Target="../notesSlides/notesSlide5.xml"/><Relationship Id="rId10" Type="http://schemas.openxmlformats.org/officeDocument/2006/relationships/vmlDrawing" Target="../drawings/vmlDrawing1.v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2.xml"/><Relationship Id="rId2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jpeg"/><Relationship Id="rId8" Type="http://schemas.openxmlformats.org/officeDocument/2006/relationships/image" Target="../media/image31.jpeg"/><Relationship Id="rId7" Type="http://schemas.openxmlformats.org/officeDocument/2006/relationships/image" Target="../media/image30.jpeg"/><Relationship Id="rId6" Type="http://schemas.openxmlformats.org/officeDocument/2006/relationships/image" Target="../media/image29.jpeg"/><Relationship Id="rId5" Type="http://schemas.openxmlformats.org/officeDocument/2006/relationships/image" Target="../media/image28.GIF"/><Relationship Id="rId4" Type="http://schemas.openxmlformats.org/officeDocument/2006/relationships/image" Target="../media/image27.GIF"/><Relationship Id="rId3" Type="http://schemas.openxmlformats.org/officeDocument/2006/relationships/image" Target="../media/image26.GIF"/><Relationship Id="rId2" Type="http://schemas.openxmlformats.org/officeDocument/2006/relationships/image" Target="../media/image25.GIF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889093" y="2474893"/>
            <a:ext cx="84138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I2E: Real-Time Image-to-Event Conversion for High-Performance Spiking Neural Networks</a:t>
            </a:r>
            <a:endParaRPr lang="en-US" altLang="zh-CN" sz="28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38887" y="3845459"/>
            <a:ext cx="8914213" cy="2439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Presenter: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Ruichen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Ma                               2026  |  Singapore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ts val="1500"/>
              </a:lnSpc>
            </a:pPr>
            <a:endParaRPr lang="en-US" altLang="zh-CN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Ruichen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Ma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Liwei Meng,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Guanchao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Qiao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Ning Ning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Yang Liu, </a:t>
            </a:r>
            <a:r>
              <a:rPr lang="en-US" altLang="zh-CN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Shaogang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Hu*</a:t>
            </a:r>
            <a:endParaRPr lang="en-US" altLang="zh-CN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ts val="1000"/>
              </a:lnSpc>
            </a:pPr>
            <a:endParaRPr lang="en-US" altLang="zh-CN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University of Electronic Science and Technology of China</a:t>
            </a:r>
            <a:endParaRPr lang="en-US" altLang="zh-CN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ruichen.ma@std.uestc.edu.cn, sghu@uestc.edu.cn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lnSpc>
                <a:spcPts val="800"/>
              </a:lnSpc>
            </a:pPr>
            <a:endParaRPr lang="en-US" altLang="zh-CN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Github: </a:t>
            </a:r>
            <a:r>
              <a:rPr lang="en-US" altLang="zh-CN" sz="1600" dirty="0">
                <a:latin typeface="Times New Roman" panose="02020603050405020304" pitchFamily="18" charset="0"/>
                <a:hlinkClick r:id="rId1"/>
              </a:rPr>
              <a:t>https://github.com/Ruichen0424/I2E</a:t>
            </a:r>
            <a:endParaRPr lang="en-US" altLang="zh-CN" sz="19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/>
            <a:r>
              <a:rPr lang="en-US" altLang="zh-C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Tourmaline &amp; Hall 3 524</a:t>
            </a:r>
            <a:endParaRPr lang="en-US" altLang="zh-CN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8" t="33998" r="6795" b="35198"/>
          <a:stretch>
            <a:fillRect/>
          </a:stretch>
        </p:blipFill>
        <p:spPr>
          <a:xfrm>
            <a:off x="531202" y="417492"/>
            <a:ext cx="3459774" cy="819700"/>
          </a:xfrm>
          <a:prstGeom prst="rect">
            <a:avLst/>
          </a:prstGeom>
        </p:spPr>
      </p:pic>
      <p:pic>
        <p:nvPicPr>
          <p:cNvPr id="29" name="图片 28" descr="卡通画&#10;&#10;描述已自动生成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178" y="210168"/>
            <a:ext cx="2609849" cy="10270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卡通画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178" y="210168"/>
            <a:ext cx="2609849" cy="102702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0047" y="502023"/>
            <a:ext cx="2083603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rgbClr val="2A76B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Motivation</a:t>
            </a:r>
            <a:endParaRPr lang="en-US" altLang="zh-CN" sz="2500" b="1" dirty="0">
              <a:solidFill>
                <a:srgbClr val="2A76B5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0847" y="1855410"/>
            <a:ext cx="56674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The Core Challenge: Data Scarcity</a:t>
            </a:r>
            <a:endParaRPr lang="en-US" altLang="zh-CN" sz="2400" b="1" i="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SNNs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need large-scale, high-quality data for deep learning.</a:t>
            </a:r>
            <a:endParaRPr lang="en-US" altLang="zh-CN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0847" y="3322687"/>
            <a:ext cx="56674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Why Existing Solutions Fail</a:t>
            </a:r>
            <a:endParaRPr lang="en-US" altLang="zh-CN" sz="2400" b="1" i="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500846" y="3910433"/>
            <a:ext cx="5836453" cy="1257300"/>
            <a:chOff x="450046" y="3910433"/>
            <a:chExt cx="5836453" cy="1257300"/>
          </a:xfrm>
        </p:grpSpPr>
        <p:sp>
          <p:nvSpPr>
            <p:cNvPr id="8" name="矩形: 圆角 7"/>
            <p:cNvSpPr/>
            <p:nvPr/>
          </p:nvSpPr>
          <p:spPr>
            <a:xfrm>
              <a:off x="450046" y="3910433"/>
              <a:ext cx="5836453" cy="1257300"/>
            </a:xfrm>
            <a:prstGeom prst="roundRect">
              <a:avLst/>
            </a:prstGeom>
            <a:solidFill>
              <a:srgbClr val="ECF1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552062" y="3967404"/>
              <a:ext cx="462560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altLang="zh-CN" dirty="0">
                  <a:latin typeface="Times New Roman" panose="02020603050405020304" pitchFamily="18" charset="0"/>
                </a:rPr>
                <a:t>Hardware Recording (DVS Sensors)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Times New Roman" panose="02020603050405020304" pitchFamily="18" charset="0"/>
                </a:rPr>
                <a:t>High Cost &amp; Low Resolution.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</a:rPr>
                <a:t>Too Slow</a:t>
              </a:r>
              <a:r>
                <a:rPr lang="en-US" altLang="zh-CN" dirty="0">
                  <a:latin typeface="Times New Roman" panose="02020603050405020304" pitchFamily="18" charset="0"/>
                </a:rPr>
                <a:t>: Weeks to record ImageNet-scale data. </a:t>
              </a:r>
              <a:r>
                <a:rPr lang="en-US" altLang="zh-CN" dirty="0">
                  <a:latin typeface="Times New Roman" panose="02020603050405020304" pitchFamily="18" charset="0"/>
                  <a:sym typeface="Wingdings 3" panose="05040102010807070707" pitchFamily="18" charset="2"/>
                </a:rPr>
                <a:t></a:t>
              </a:r>
              <a:r>
                <a:rPr lang="en-US" altLang="zh-CN" dirty="0">
                  <a:latin typeface="Times New Roman" panose="02020603050405020304" pitchFamily="18" charset="0"/>
                </a:rPr>
                <a:t> Impossible to scale.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pic>
          <p:nvPicPr>
            <p:cNvPr id="1026" name="Picture 2" descr="a) The Dynamic Vision Sensor (DVS). (b ...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8667" y="4101260"/>
              <a:ext cx="944562" cy="8756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7" name="组合 26"/>
          <p:cNvGrpSpPr/>
          <p:nvPr/>
        </p:nvGrpSpPr>
        <p:grpSpPr>
          <a:xfrm>
            <a:off x="500846" y="5301589"/>
            <a:ext cx="5836453" cy="1257300"/>
            <a:chOff x="450046" y="5301589"/>
            <a:chExt cx="5836453" cy="1257300"/>
          </a:xfrm>
        </p:grpSpPr>
        <p:sp>
          <p:nvSpPr>
            <p:cNvPr id="10" name="矩形: 圆角 9"/>
            <p:cNvSpPr/>
            <p:nvPr/>
          </p:nvSpPr>
          <p:spPr>
            <a:xfrm>
              <a:off x="450046" y="5301589"/>
              <a:ext cx="5836453" cy="1257300"/>
            </a:xfrm>
            <a:prstGeom prst="roundRect">
              <a:avLst/>
            </a:prstGeom>
            <a:solidFill>
              <a:srgbClr val="ECF1F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552062" y="5358560"/>
              <a:ext cx="462560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</a:rPr>
                <a:t>2.   Prior  Algorithm (e.g., ODG)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</a:rPr>
                <a:t>Computationally Heavy.</a:t>
              </a:r>
              <a:endParaRPr lang="en-US" altLang="zh-CN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zh-CN" b="1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</a:rPr>
                <a:t>High Latency</a:t>
              </a:r>
              <a:r>
                <a:rPr lang="en-US" altLang="zh-CN" dirty="0">
                  <a:latin typeface="Times New Roman" panose="02020603050405020304" pitchFamily="18" charset="0"/>
                </a:rPr>
                <a:t>: Blocks real-time (on-the-fly) training pipelines.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pic>
          <p:nvPicPr>
            <p:cNvPr id="13" name="Picture 4" descr="Wafer vs. Chip Distinctions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3699"/>
            <a:stretch>
              <a:fillRect/>
            </a:stretch>
          </p:blipFill>
          <p:spPr bwMode="auto">
            <a:xfrm>
              <a:off x="528773" y="5502423"/>
              <a:ext cx="944562" cy="9126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7" name="图片 16" descr="背景图案&#10;&#10;中度可信度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100" y="1624352"/>
            <a:ext cx="1980000" cy="1980000"/>
          </a:xfrm>
          <a:prstGeom prst="rect">
            <a:avLst/>
          </a:prstGeom>
        </p:spPr>
      </p:pic>
      <p:pic>
        <p:nvPicPr>
          <p:cNvPr id="19" name="图片 18" descr="电脑萤幕画面&#10;&#10;中度可信度描述已自动生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5648" y="1624352"/>
            <a:ext cx="1980000" cy="1980000"/>
          </a:xfrm>
          <a:prstGeom prst="rect">
            <a:avLst/>
          </a:prstGeom>
        </p:spPr>
      </p:pic>
      <p:pic>
        <p:nvPicPr>
          <p:cNvPr id="21" name="图片 20" descr="电脑屏幕的照片&#10;&#10;低可信度描述已自动生成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4215" y="3929304"/>
            <a:ext cx="1980000" cy="1980000"/>
          </a:xfrm>
          <a:prstGeom prst="rect">
            <a:avLst/>
          </a:prstGeom>
        </p:spPr>
      </p:pic>
      <p:pic>
        <p:nvPicPr>
          <p:cNvPr id="23" name="图片 22" descr="电脑萤幕画面&#10;&#10;低可信度描述已自动生成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5648" y="3910433"/>
            <a:ext cx="1980000" cy="198000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7274215" y="6001501"/>
            <a:ext cx="4500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</a:rPr>
              <a:t>Visual Evidence</a:t>
            </a:r>
            <a:r>
              <a:rPr lang="en-US" altLang="zh-CN" dirty="0">
                <a:latin typeface="Times New Roman" panose="02020603050405020304" pitchFamily="18" charset="0"/>
              </a:rPr>
              <a:t>: Existing data suffers from significant background noise and motion blur.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卡通画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178" y="210168"/>
            <a:ext cx="2609849" cy="102702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0047" y="502023"/>
            <a:ext cx="2083603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rgbClr val="2A76B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Method</a:t>
            </a:r>
            <a:endParaRPr lang="en-US" altLang="zh-CN" sz="2500" b="1" dirty="0">
              <a:solidFill>
                <a:srgbClr val="2A76B5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6845" y="2047183"/>
            <a:ext cx="1392543" cy="3700883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707749" y="4379767"/>
            <a:ext cx="2344980" cy="120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altLang="zh-CN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Microsaccade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Simulation)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5741390" y="5219491"/>
            <a:ext cx="1966520" cy="515503"/>
          </a:xfrm>
          <a:prstGeom prst="roundRect">
            <a:avLst/>
          </a:prstGeom>
          <a:noFill/>
          <a:ln w="28575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Adaptive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Thresholding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>
            <a:off x="8191928" y="5477242"/>
            <a:ext cx="646423" cy="0"/>
          </a:xfrm>
          <a:prstGeom prst="straightConnector1">
            <a:avLst/>
          </a:prstGeom>
          <a:noFill/>
          <a:ln w="1016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1035" name="图片 10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438" y="1898082"/>
            <a:ext cx="2083602" cy="3737466"/>
          </a:xfrm>
          <a:prstGeom prst="rect">
            <a:avLst/>
          </a:prstGeom>
        </p:spPr>
      </p:pic>
      <p:cxnSp>
        <p:nvCxnSpPr>
          <p:cNvPr id="1036" name="直接箭头连接符 1035"/>
          <p:cNvCxnSpPr/>
          <p:nvPr/>
        </p:nvCxnSpPr>
        <p:spPr>
          <a:xfrm>
            <a:off x="4937851" y="2047183"/>
            <a:ext cx="540026" cy="0"/>
          </a:xfrm>
          <a:prstGeom prst="straightConnector1">
            <a:avLst/>
          </a:prstGeom>
          <a:noFill/>
          <a:ln w="1016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37" name="矩形: 圆角 1036"/>
          <p:cNvSpPr/>
          <p:nvPr/>
        </p:nvSpPr>
        <p:spPr>
          <a:xfrm>
            <a:off x="5741390" y="1789432"/>
            <a:ext cx="1966520" cy="515503"/>
          </a:xfrm>
          <a:prstGeom prst="roundRect">
            <a:avLst/>
          </a:prstGeom>
          <a:noFill/>
          <a:ln w="28575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Intensity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Extraction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38" name="文本框 1037"/>
          <p:cNvSpPr txBox="1"/>
          <p:nvPr/>
        </p:nvSpPr>
        <p:spPr>
          <a:xfrm>
            <a:off x="5588567" y="2427376"/>
            <a:ext cx="26033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(RGB → HS</a:t>
            </a:r>
            <a:r>
              <a:rPr kumimoji="0" lang="en-US" altLang="zh-CN" sz="14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Value Channel)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86" name="组合 1085"/>
          <p:cNvGrpSpPr/>
          <p:nvPr/>
        </p:nvGrpSpPr>
        <p:grpSpPr>
          <a:xfrm>
            <a:off x="5741390" y="3244696"/>
            <a:ext cx="1966521" cy="1075936"/>
            <a:chOff x="4557026" y="3153676"/>
            <a:chExt cx="1966521" cy="1075936"/>
          </a:xfrm>
        </p:grpSpPr>
        <p:grpSp>
          <p:nvGrpSpPr>
            <p:cNvPr id="1040" name="组合 1039"/>
            <p:cNvGrpSpPr/>
            <p:nvPr/>
          </p:nvGrpSpPr>
          <p:grpSpPr>
            <a:xfrm>
              <a:off x="4710424" y="3288075"/>
              <a:ext cx="1685228" cy="822500"/>
              <a:chOff x="6500308" y="18183009"/>
              <a:chExt cx="3606526" cy="1940544"/>
            </a:xfrm>
          </p:grpSpPr>
          <p:grpSp>
            <p:nvGrpSpPr>
              <p:cNvPr id="1041" name="组合 1040"/>
              <p:cNvGrpSpPr/>
              <p:nvPr/>
            </p:nvGrpSpPr>
            <p:grpSpPr>
              <a:xfrm>
                <a:off x="6500308" y="18183009"/>
                <a:ext cx="1823858" cy="1940544"/>
                <a:chOff x="6583402" y="18379763"/>
                <a:chExt cx="1439520" cy="1527389"/>
              </a:xfrm>
            </p:grpSpPr>
            <p:grpSp>
              <p:nvGrpSpPr>
                <p:cNvPr id="1046" name="组合 1045"/>
                <p:cNvGrpSpPr/>
                <p:nvPr/>
              </p:nvGrpSpPr>
              <p:grpSpPr>
                <a:xfrm>
                  <a:off x="6942041" y="18379763"/>
                  <a:ext cx="1080881" cy="1080000"/>
                  <a:chOff x="18110138" y="10988968"/>
                  <a:chExt cx="1080881" cy="1080000"/>
                </a:xfrm>
              </p:grpSpPr>
              <p:grpSp>
                <p:nvGrpSpPr>
                  <p:cNvPr id="1073" name="组合 1072"/>
                  <p:cNvGrpSpPr/>
                  <p:nvPr/>
                </p:nvGrpSpPr>
                <p:grpSpPr>
                  <a:xfrm>
                    <a:off x="18111019" y="10988968"/>
                    <a:ext cx="1080000" cy="360000"/>
                    <a:chOff x="18111019" y="10988968"/>
                    <a:chExt cx="1080000" cy="360000"/>
                  </a:xfrm>
                </p:grpSpPr>
                <p:sp>
                  <p:nvSpPr>
                    <p:cNvPr id="1082" name="矩形 1081"/>
                    <p:cNvSpPr/>
                    <p:nvPr/>
                  </p:nvSpPr>
                  <p:spPr>
                    <a:xfrm>
                      <a:off x="1811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83" name="矩形 1082"/>
                    <p:cNvSpPr/>
                    <p:nvPr/>
                  </p:nvSpPr>
                  <p:spPr>
                    <a:xfrm>
                      <a:off x="1847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84" name="矩形 1083"/>
                    <p:cNvSpPr/>
                    <p:nvPr/>
                  </p:nvSpPr>
                  <p:spPr>
                    <a:xfrm>
                      <a:off x="1883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74" name="组合 1073"/>
                  <p:cNvGrpSpPr/>
                  <p:nvPr/>
                </p:nvGrpSpPr>
                <p:grpSpPr>
                  <a:xfrm>
                    <a:off x="18111019" y="11348968"/>
                    <a:ext cx="1080000" cy="360000"/>
                    <a:chOff x="18111019" y="10988968"/>
                    <a:chExt cx="1080000" cy="360000"/>
                  </a:xfrm>
                </p:grpSpPr>
                <p:sp>
                  <p:nvSpPr>
                    <p:cNvPr id="1079" name="矩形 1078"/>
                    <p:cNvSpPr/>
                    <p:nvPr/>
                  </p:nvSpPr>
                  <p:spPr>
                    <a:xfrm>
                      <a:off x="1811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80" name="矩形 1079"/>
                    <p:cNvSpPr/>
                    <p:nvPr/>
                  </p:nvSpPr>
                  <p:spPr>
                    <a:xfrm>
                      <a:off x="18469257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81" name="矩形 1080"/>
                    <p:cNvSpPr/>
                    <p:nvPr/>
                  </p:nvSpPr>
                  <p:spPr>
                    <a:xfrm>
                      <a:off x="18831019" y="10988968"/>
                      <a:ext cx="360000" cy="360000"/>
                    </a:xfrm>
                    <a:prstGeom prst="rect">
                      <a:avLst/>
                    </a:prstGeom>
                    <a:solidFill>
                      <a:srgbClr val="7AABDA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75" name="组合 1074"/>
                  <p:cNvGrpSpPr/>
                  <p:nvPr/>
                </p:nvGrpSpPr>
                <p:grpSpPr>
                  <a:xfrm>
                    <a:off x="18110138" y="11708968"/>
                    <a:ext cx="1080000" cy="360000"/>
                    <a:chOff x="18111019" y="10988968"/>
                    <a:chExt cx="1080000" cy="360000"/>
                  </a:xfrm>
                </p:grpSpPr>
                <p:sp>
                  <p:nvSpPr>
                    <p:cNvPr id="1076" name="矩形 1075"/>
                    <p:cNvSpPr/>
                    <p:nvPr/>
                  </p:nvSpPr>
                  <p:spPr>
                    <a:xfrm>
                      <a:off x="18111019" y="10988968"/>
                      <a:ext cx="360000" cy="360000"/>
                    </a:xfrm>
                    <a:prstGeom prst="rect">
                      <a:avLst/>
                    </a:prstGeom>
                    <a:solidFill>
                      <a:srgbClr val="7AABDA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77" name="矩形 1076"/>
                    <p:cNvSpPr/>
                    <p:nvPr/>
                  </p:nvSpPr>
                  <p:spPr>
                    <a:xfrm>
                      <a:off x="1847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78" name="矩形 1077"/>
                    <p:cNvSpPr/>
                    <p:nvPr/>
                  </p:nvSpPr>
                  <p:spPr>
                    <a:xfrm>
                      <a:off x="1883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</p:grpSp>
            </p:grpSp>
            <p:grpSp>
              <p:nvGrpSpPr>
                <p:cNvPr id="1047" name="组合 1046"/>
                <p:cNvGrpSpPr/>
                <p:nvPr/>
              </p:nvGrpSpPr>
              <p:grpSpPr>
                <a:xfrm>
                  <a:off x="6761491" y="18599778"/>
                  <a:ext cx="1080881" cy="1080000"/>
                  <a:chOff x="18110138" y="10988968"/>
                  <a:chExt cx="1080881" cy="1080000"/>
                </a:xfrm>
              </p:grpSpPr>
              <p:grpSp>
                <p:nvGrpSpPr>
                  <p:cNvPr id="1061" name="组合 1060"/>
                  <p:cNvGrpSpPr/>
                  <p:nvPr/>
                </p:nvGrpSpPr>
                <p:grpSpPr>
                  <a:xfrm>
                    <a:off x="18111019" y="10988968"/>
                    <a:ext cx="1080000" cy="360000"/>
                    <a:chOff x="18111019" y="10988968"/>
                    <a:chExt cx="1080000" cy="360000"/>
                  </a:xfrm>
                </p:grpSpPr>
                <p:sp>
                  <p:nvSpPr>
                    <p:cNvPr id="1070" name="矩形 1069"/>
                    <p:cNvSpPr/>
                    <p:nvPr/>
                  </p:nvSpPr>
                  <p:spPr>
                    <a:xfrm>
                      <a:off x="18111019" y="10988968"/>
                      <a:ext cx="360000" cy="360000"/>
                    </a:xfrm>
                    <a:prstGeom prst="rect">
                      <a:avLst/>
                    </a:prstGeom>
                    <a:solidFill>
                      <a:srgbClr val="7AABDA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71" name="矩形 1070"/>
                    <p:cNvSpPr/>
                    <p:nvPr/>
                  </p:nvSpPr>
                  <p:spPr>
                    <a:xfrm>
                      <a:off x="1847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72" name="矩形 1071"/>
                    <p:cNvSpPr/>
                    <p:nvPr/>
                  </p:nvSpPr>
                  <p:spPr>
                    <a:xfrm>
                      <a:off x="1883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62" name="组合 1061"/>
                  <p:cNvGrpSpPr/>
                  <p:nvPr/>
                </p:nvGrpSpPr>
                <p:grpSpPr>
                  <a:xfrm>
                    <a:off x="18111019" y="11348968"/>
                    <a:ext cx="1080000" cy="360000"/>
                    <a:chOff x="18111019" y="10988968"/>
                    <a:chExt cx="1080000" cy="360000"/>
                  </a:xfrm>
                </p:grpSpPr>
                <p:sp>
                  <p:nvSpPr>
                    <p:cNvPr id="1067" name="矩形 1066"/>
                    <p:cNvSpPr/>
                    <p:nvPr/>
                  </p:nvSpPr>
                  <p:spPr>
                    <a:xfrm>
                      <a:off x="1811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68" name="矩形 1067"/>
                    <p:cNvSpPr/>
                    <p:nvPr/>
                  </p:nvSpPr>
                  <p:spPr>
                    <a:xfrm>
                      <a:off x="18469257" y="10988968"/>
                      <a:ext cx="360000" cy="360000"/>
                    </a:xfrm>
                    <a:prstGeom prst="rect">
                      <a:avLst/>
                    </a:prstGeom>
                    <a:solidFill>
                      <a:srgbClr val="7AABDA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69" name="矩形 1068"/>
                    <p:cNvSpPr/>
                    <p:nvPr/>
                  </p:nvSpPr>
                  <p:spPr>
                    <a:xfrm>
                      <a:off x="1883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63" name="组合 1062"/>
                  <p:cNvGrpSpPr/>
                  <p:nvPr/>
                </p:nvGrpSpPr>
                <p:grpSpPr>
                  <a:xfrm>
                    <a:off x="18110138" y="11708968"/>
                    <a:ext cx="1080000" cy="360000"/>
                    <a:chOff x="18111019" y="10988968"/>
                    <a:chExt cx="1080000" cy="360000"/>
                  </a:xfrm>
                </p:grpSpPr>
                <p:sp>
                  <p:nvSpPr>
                    <p:cNvPr id="1064" name="矩形 1063"/>
                    <p:cNvSpPr/>
                    <p:nvPr/>
                  </p:nvSpPr>
                  <p:spPr>
                    <a:xfrm>
                      <a:off x="1811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65" name="矩形 1064"/>
                    <p:cNvSpPr/>
                    <p:nvPr/>
                  </p:nvSpPr>
                  <p:spPr>
                    <a:xfrm>
                      <a:off x="1847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66" name="矩形 1065"/>
                    <p:cNvSpPr/>
                    <p:nvPr/>
                  </p:nvSpPr>
                  <p:spPr>
                    <a:xfrm>
                      <a:off x="1883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</p:grpSp>
            </p:grpSp>
            <p:grpSp>
              <p:nvGrpSpPr>
                <p:cNvPr id="1048" name="组合 1047"/>
                <p:cNvGrpSpPr/>
                <p:nvPr/>
              </p:nvGrpSpPr>
              <p:grpSpPr>
                <a:xfrm>
                  <a:off x="6583402" y="18827152"/>
                  <a:ext cx="1080881" cy="1080000"/>
                  <a:chOff x="18110138" y="10988968"/>
                  <a:chExt cx="1080881" cy="1080000"/>
                </a:xfrm>
              </p:grpSpPr>
              <p:grpSp>
                <p:nvGrpSpPr>
                  <p:cNvPr id="1049" name="组合 1048"/>
                  <p:cNvGrpSpPr/>
                  <p:nvPr/>
                </p:nvGrpSpPr>
                <p:grpSpPr>
                  <a:xfrm>
                    <a:off x="18111019" y="10988968"/>
                    <a:ext cx="1080000" cy="360000"/>
                    <a:chOff x="18111019" y="10988968"/>
                    <a:chExt cx="1080000" cy="360000"/>
                  </a:xfrm>
                </p:grpSpPr>
                <p:sp>
                  <p:nvSpPr>
                    <p:cNvPr id="1058" name="矩形 1057"/>
                    <p:cNvSpPr/>
                    <p:nvPr/>
                  </p:nvSpPr>
                  <p:spPr>
                    <a:xfrm>
                      <a:off x="1811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59" name="矩形 1058"/>
                    <p:cNvSpPr/>
                    <p:nvPr/>
                  </p:nvSpPr>
                  <p:spPr>
                    <a:xfrm>
                      <a:off x="1847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60" name="矩形 1059"/>
                    <p:cNvSpPr/>
                    <p:nvPr/>
                  </p:nvSpPr>
                  <p:spPr>
                    <a:xfrm>
                      <a:off x="1883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50" name="组合 1049"/>
                  <p:cNvGrpSpPr/>
                  <p:nvPr/>
                </p:nvGrpSpPr>
                <p:grpSpPr>
                  <a:xfrm>
                    <a:off x="18111019" y="11348968"/>
                    <a:ext cx="1080000" cy="360000"/>
                    <a:chOff x="18111019" y="10988968"/>
                    <a:chExt cx="1080000" cy="360000"/>
                  </a:xfrm>
                </p:grpSpPr>
                <p:sp>
                  <p:nvSpPr>
                    <p:cNvPr id="1055" name="矩形 1054"/>
                    <p:cNvSpPr/>
                    <p:nvPr/>
                  </p:nvSpPr>
                  <p:spPr>
                    <a:xfrm>
                      <a:off x="1811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56" name="矩形 1055"/>
                    <p:cNvSpPr/>
                    <p:nvPr/>
                  </p:nvSpPr>
                  <p:spPr>
                    <a:xfrm>
                      <a:off x="18469257" y="10988968"/>
                      <a:ext cx="360000" cy="360000"/>
                    </a:xfrm>
                    <a:prstGeom prst="rect">
                      <a:avLst/>
                    </a:prstGeom>
                    <a:solidFill>
                      <a:srgbClr val="7AABDA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等线" panose="02010600030101010101" pitchFamily="2" charset="-122"/>
                      </a:endParaRPr>
                    </a:p>
                  </p:txBody>
                </p:sp>
                <p:sp>
                  <p:nvSpPr>
                    <p:cNvPr id="1057" name="矩形 1056"/>
                    <p:cNvSpPr/>
                    <p:nvPr/>
                  </p:nvSpPr>
                  <p:spPr>
                    <a:xfrm>
                      <a:off x="18831019" y="10988968"/>
                      <a:ext cx="360000" cy="360000"/>
                    </a:xfrm>
                    <a:prstGeom prst="rect">
                      <a:avLst/>
                    </a:prstGeom>
                    <a:solidFill>
                      <a:srgbClr val="7AABDA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051" name="组合 1050"/>
                  <p:cNvGrpSpPr/>
                  <p:nvPr/>
                </p:nvGrpSpPr>
                <p:grpSpPr>
                  <a:xfrm>
                    <a:off x="18110138" y="11708968"/>
                    <a:ext cx="1080000" cy="360000"/>
                    <a:chOff x="18111019" y="10988968"/>
                    <a:chExt cx="1080000" cy="360000"/>
                  </a:xfrm>
                </p:grpSpPr>
                <p:sp>
                  <p:nvSpPr>
                    <p:cNvPr id="1052" name="矩形 1051"/>
                    <p:cNvSpPr/>
                    <p:nvPr/>
                  </p:nvSpPr>
                  <p:spPr>
                    <a:xfrm>
                      <a:off x="1811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53" name="矩形 1052"/>
                    <p:cNvSpPr/>
                    <p:nvPr/>
                  </p:nvSpPr>
                  <p:spPr>
                    <a:xfrm>
                      <a:off x="1847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054" name="矩形 1053"/>
                    <p:cNvSpPr/>
                    <p:nvPr/>
                  </p:nvSpPr>
                  <p:spPr>
                    <a:xfrm>
                      <a:off x="18831019" y="10988968"/>
                      <a:ext cx="360000" cy="36000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9050" cap="flat" cmpd="sng" algn="ctr">
                      <a:solidFill>
                        <a:srgbClr val="156082">
                          <a:shade val="15000"/>
                        </a:srgbClr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Aptos" panose="02110004020202020204"/>
                        <a:ea typeface="等线" panose="02010600030101010101" pitchFamily="2" charset="-122"/>
                        <a:cs typeface="+mn-cs"/>
                      </a:endParaRPr>
                    </a:p>
                  </p:txBody>
                </p:sp>
              </p:grpSp>
            </p:grpSp>
          </p:grpSp>
          <p:cxnSp>
            <p:nvCxnSpPr>
              <p:cNvPr id="1042" name="直接箭头连接符 1041"/>
              <p:cNvCxnSpPr/>
              <p:nvPr/>
            </p:nvCxnSpPr>
            <p:spPr>
              <a:xfrm>
                <a:off x="8097643" y="18407473"/>
                <a:ext cx="1389220" cy="736459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043" name="直接箭头连接符 1042"/>
              <p:cNvCxnSpPr/>
              <p:nvPr/>
            </p:nvCxnSpPr>
            <p:spPr>
              <a:xfrm>
                <a:off x="7966790" y="19143932"/>
                <a:ext cx="1520073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044" name="直接箭头连接符 1043"/>
              <p:cNvCxnSpPr/>
              <p:nvPr/>
            </p:nvCxnSpPr>
            <p:spPr>
              <a:xfrm flipV="1">
                <a:off x="7731647" y="19143932"/>
                <a:ext cx="1755216" cy="698111"/>
              </a:xfrm>
              <a:prstGeom prst="straightConnector1">
                <a:avLst/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1045" name="椭圆 1044"/>
              <p:cNvSpPr/>
              <p:nvPr/>
            </p:nvSpPr>
            <p:spPr>
              <a:xfrm>
                <a:off x="9566834" y="18827767"/>
                <a:ext cx="540000" cy="540000"/>
              </a:xfrm>
              <a:prstGeom prst="ellipse">
                <a:avLst/>
              </a:prstGeom>
              <a:solidFill>
                <a:srgbClr val="7AABDA"/>
              </a:solidFill>
              <a:ln w="19050" cap="flat" cmpd="sng" algn="ctr">
                <a:solidFill>
                  <a:srgbClr val="156082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085" name="矩形: 圆角 1084"/>
            <p:cNvSpPr/>
            <p:nvPr/>
          </p:nvSpPr>
          <p:spPr>
            <a:xfrm>
              <a:off x="4557026" y="3153676"/>
              <a:ext cx="1966521" cy="1075936"/>
            </a:xfrm>
            <a:prstGeom prst="roundRect">
              <a:avLst/>
            </a:prstGeom>
            <a:noFill/>
            <a:ln w="28575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</p:grpSp>
      <p:sp>
        <p:nvSpPr>
          <p:cNvPr id="1087" name="矩形: 圆角 1086"/>
          <p:cNvSpPr/>
          <p:nvPr/>
        </p:nvSpPr>
        <p:spPr>
          <a:xfrm rot="16200000">
            <a:off x="3138457" y="3449974"/>
            <a:ext cx="2870854" cy="533940"/>
          </a:xfrm>
          <a:prstGeom prst="roundRect">
            <a:avLst/>
          </a:prstGeom>
          <a:noFill/>
          <a:ln w="28575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Data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kern="0" dirty="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Augmentation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088" name="直接箭头连接符 1087"/>
          <p:cNvCxnSpPr/>
          <p:nvPr/>
        </p:nvCxnSpPr>
        <p:spPr>
          <a:xfrm flipV="1">
            <a:off x="3786040" y="3863746"/>
            <a:ext cx="482774" cy="13688"/>
          </a:xfrm>
          <a:prstGeom prst="straightConnector1">
            <a:avLst/>
          </a:prstGeom>
          <a:noFill/>
          <a:ln w="1016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91" name="直接箭头连接符 1090"/>
          <p:cNvCxnSpPr/>
          <p:nvPr/>
        </p:nvCxnSpPr>
        <p:spPr>
          <a:xfrm>
            <a:off x="6754067" y="2747431"/>
            <a:ext cx="1" cy="467697"/>
          </a:xfrm>
          <a:prstGeom prst="straightConnector1">
            <a:avLst/>
          </a:prstGeom>
          <a:noFill/>
          <a:ln w="1016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95" name="直接箭头连接符 1094"/>
          <p:cNvCxnSpPr/>
          <p:nvPr/>
        </p:nvCxnSpPr>
        <p:spPr>
          <a:xfrm>
            <a:off x="6754067" y="4716203"/>
            <a:ext cx="1" cy="467697"/>
          </a:xfrm>
          <a:prstGeom prst="straightConnector1">
            <a:avLst/>
          </a:prstGeom>
          <a:noFill/>
          <a:ln w="1016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96" name="文本框 1095"/>
          <p:cNvSpPr txBox="1"/>
          <p:nvPr/>
        </p:nvSpPr>
        <p:spPr>
          <a:xfrm>
            <a:off x="6040119" y="3755330"/>
            <a:ext cx="3454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7" name="文本框 1096"/>
          <p:cNvSpPr txBox="1"/>
          <p:nvPr/>
        </p:nvSpPr>
        <p:spPr>
          <a:xfrm>
            <a:off x="6279804" y="3755330"/>
            <a:ext cx="2348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9" name="文本框 1098"/>
          <p:cNvSpPr txBox="1"/>
          <p:nvPr/>
        </p:nvSpPr>
        <p:spPr>
          <a:xfrm>
            <a:off x="6520843" y="3520450"/>
            <a:ext cx="2348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0" name="文本框 1099"/>
          <p:cNvSpPr txBox="1"/>
          <p:nvPr/>
        </p:nvSpPr>
        <p:spPr>
          <a:xfrm>
            <a:off x="5959803" y="3452401"/>
            <a:ext cx="2348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1" name="文本框 1100"/>
          <p:cNvSpPr txBox="1"/>
          <p:nvPr/>
        </p:nvSpPr>
        <p:spPr>
          <a:xfrm>
            <a:off x="5178958" y="6147492"/>
            <a:ext cx="2802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</a:rPr>
              <a:t>I2E Algorithm Overview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卡通画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178" y="210168"/>
            <a:ext cx="2609849" cy="102702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0047" y="502023"/>
            <a:ext cx="2083603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rgbClr val="2A76B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Method</a:t>
            </a:r>
            <a:endParaRPr lang="en-US" altLang="zh-CN" sz="2500" b="1" dirty="0">
              <a:solidFill>
                <a:srgbClr val="2A76B5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 descr="手机屏幕的截图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860" y="1765905"/>
            <a:ext cx="2519299" cy="1120323"/>
          </a:xfrm>
          <a:prstGeom prst="rect">
            <a:avLst/>
          </a:prstGeom>
        </p:spPr>
      </p:pic>
      <p:pic>
        <p:nvPicPr>
          <p:cNvPr id="5" name="图片 4" descr="形状&#10;&#10;描述已自动生成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246" y="3807018"/>
            <a:ext cx="1804526" cy="193019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099473" y="5737215"/>
            <a:ext cx="24140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Parallel Convolution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200267" y="2927155"/>
            <a:ext cx="2212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Image Differencing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10306509" y="3337415"/>
            <a:ext cx="0" cy="469603"/>
          </a:xfrm>
          <a:prstGeom prst="straightConnector1">
            <a:avLst/>
          </a:prstGeom>
          <a:ln w="1016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图片 17" descr="图片包含 不同, 桌子, 照片, 各种&#10;&#10;描述已自动生成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81" y="2326066"/>
            <a:ext cx="7875703" cy="2360692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678456" y="4772116"/>
            <a:ext cx="70944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I2E algorithm simulates micro-saccadic eye movements using a source image (point E) and its eight one-pixel shifted versions (the other points), represented by a 3 × 3 grid. The intensity change ∆V is calculated by differencing pairs of these images.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卡通画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178" y="210168"/>
            <a:ext cx="2609849" cy="102702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0047" y="502023"/>
            <a:ext cx="2083603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rgbClr val="2A76B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Method</a:t>
            </a:r>
            <a:endParaRPr lang="en-US" altLang="zh-CN" sz="2500" b="1" dirty="0">
              <a:solidFill>
                <a:srgbClr val="2A76B5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 descr="图表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184" y="1900949"/>
            <a:ext cx="4323093" cy="3433608"/>
          </a:xfrm>
          <a:prstGeom prst="rect">
            <a:avLst/>
          </a:prstGeom>
        </p:spPr>
      </p:pic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235166" y="2586912"/>
          <a:ext cx="30099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3" imgW="72237600" imgH="28651200" progId="Equation.DSMT4">
                  <p:embed/>
                </p:oleObj>
              </mc:Choice>
              <mc:Fallback>
                <p:oleObj name="Equation" r:id="rId3" imgW="72237600" imgH="286512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35166" y="2586912"/>
                        <a:ext cx="3009900" cy="1193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43745" y="2077355"/>
            <a:ext cx="2169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generation: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235166" y="4988961"/>
          <a:ext cx="2946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Equation" r:id="rId5" imgW="70713600" imgH="8839200" progId="Equation.DSMT4">
                  <p:embed/>
                </p:oleObj>
              </mc:Choice>
              <mc:Fallback>
                <p:oleObj name="Equation" r:id="rId5" imgW="70713600" imgH="8839200" progId="Equation.DSMT4">
                  <p:embed/>
                  <p:pic>
                    <p:nvPicPr>
                      <p:cNvPr id="0" name="图片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35166" y="4988961"/>
                        <a:ext cx="2946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843745" y="4367900"/>
            <a:ext cx="2169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threshold: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6594303" y="5452947"/>
                <a:ext cx="5307749" cy="681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 rate statistics on ImageNet.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𝑡ℎ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0.12 is selected to achieve a mean event rate of approximately 5%.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303" y="5452947"/>
                <a:ext cx="5307749" cy="681212"/>
              </a:xfrm>
              <a:prstGeom prst="rect">
                <a:avLst/>
              </a:prstGeom>
              <a:blipFill rotWithShape="1">
                <a:blip r:embed="rId7"/>
                <a:stretch>
                  <a:fillRect l="-9" t="-30" r="5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卡通画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178" y="210168"/>
            <a:ext cx="2609849" cy="102702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0047" y="502023"/>
            <a:ext cx="2083603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rgbClr val="2A76B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Speed</a:t>
            </a:r>
            <a:endParaRPr lang="en-US" altLang="zh-CN" sz="2500" b="1" dirty="0">
              <a:solidFill>
                <a:srgbClr val="2A76B5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175" y="1332679"/>
            <a:ext cx="5638800" cy="3695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67475" y="5258743"/>
            <a:ext cx="90570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event-based dataset generation speeds.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I2E algorithm demonstrates orders-of-magnitude faster per-sample generation speed compared to both hardware-based acquisition methods and previous algorithmic approaches. Hardware speeds reflect physical capture time, while algorithmic speeds reflect computation time.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70456" y="3602862"/>
            <a:ext cx="351840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0.1ms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latency (GPU)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30,000x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faster than DVS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300x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faster than ODG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18.9x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reduction in first-layer energy consumption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卡通画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178" y="210168"/>
            <a:ext cx="2609849" cy="102702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0047" y="502023"/>
            <a:ext cx="2083603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rgbClr val="2A76B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Experiment</a:t>
            </a:r>
            <a:endParaRPr lang="en-US" altLang="zh-CN" sz="2500" b="1" dirty="0">
              <a:solidFill>
                <a:srgbClr val="2A76B5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776" y="1879580"/>
            <a:ext cx="4210263" cy="322581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961018" y="5287850"/>
            <a:ext cx="82699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 comparison on event-based ImageNet classification. The proposed I2E-ImageNet enables an MS-ResNet34 architecture to achieve a new state-of-the-art accuracy of 60.50%, substantially outperforming all prior results and demonstrating the superior quality of the synthetic data for training deep high-performance SNNs.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7206847" y="4454307"/>
            <a:ext cx="526674" cy="235389"/>
          </a:xfrm>
          <a:prstGeom prst="straightConnector1">
            <a:avLst/>
          </a:prstGeom>
          <a:noFill/>
          <a:ln w="1016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3" name="矩形: 圆角 12"/>
          <p:cNvSpPr/>
          <p:nvPr/>
        </p:nvSpPr>
        <p:spPr>
          <a:xfrm>
            <a:off x="7733521" y="4154160"/>
            <a:ext cx="1454703" cy="600294"/>
          </a:xfrm>
          <a:prstGeom prst="roundRect">
            <a:avLst/>
          </a:prstGeom>
          <a:solidFill>
            <a:srgbClr val="ECF1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Pre-trained on the ImageNet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650841" y="1233952"/>
            <a:ext cx="28903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eneration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uality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卡通画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178" y="210168"/>
            <a:ext cx="2609849" cy="102702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0047" y="502023"/>
            <a:ext cx="2083603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rgbClr val="2A76B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Experiment</a:t>
            </a:r>
            <a:endParaRPr lang="en-US" altLang="zh-CN" sz="2500" b="1" dirty="0">
              <a:solidFill>
                <a:srgbClr val="2A76B5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119" y="2142071"/>
            <a:ext cx="4293015" cy="297142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63200" y="5212156"/>
            <a:ext cx="85927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on CIFAR datasets. Transfer-I denotes fine-tuning after pre-training on I2E-ImageNet. Transfer-II denotes fine-tuning after pre-training on I2E-CIFAR10. The transfer-II result of 92.5% establishes a new state-of-the-art on real-world CIFAR10-DVS, demonstrating the effectiveness of the proposed sim-to-real training paradigm.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50841" y="1233952"/>
            <a:ext cx="28903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Sim-to-Real Transfer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7189134" y="3132016"/>
            <a:ext cx="526674" cy="235389"/>
          </a:xfrm>
          <a:prstGeom prst="straightConnector1">
            <a:avLst/>
          </a:prstGeom>
          <a:noFill/>
          <a:ln w="1016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1" name="矩形: 圆角 10"/>
          <p:cNvSpPr/>
          <p:nvPr/>
        </p:nvSpPr>
        <p:spPr>
          <a:xfrm>
            <a:off x="7715808" y="2831869"/>
            <a:ext cx="1849114" cy="600294"/>
          </a:xfrm>
          <a:prstGeom prst="roundRect">
            <a:avLst/>
          </a:prstGeom>
          <a:solidFill>
            <a:srgbClr val="ECF1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Pre-trained on the ImageNet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>
            <a:stCxn id="3" idx="3"/>
            <a:endCxn id="14" idx="1"/>
          </p:cNvCxnSpPr>
          <p:nvPr/>
        </p:nvCxnSpPr>
        <p:spPr>
          <a:xfrm>
            <a:off x="7189134" y="3627783"/>
            <a:ext cx="531264" cy="457604"/>
          </a:xfrm>
          <a:prstGeom prst="straightConnector1">
            <a:avLst/>
          </a:prstGeom>
          <a:noFill/>
          <a:ln w="1016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矩形: 圆角 13"/>
          <p:cNvSpPr/>
          <p:nvPr/>
        </p:nvSpPr>
        <p:spPr>
          <a:xfrm>
            <a:off x="7720398" y="3785240"/>
            <a:ext cx="1849114" cy="600294"/>
          </a:xfrm>
          <a:prstGeom prst="roundRect">
            <a:avLst/>
          </a:prstGeom>
          <a:solidFill>
            <a:srgbClr val="ECF1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Pre-trained on the I2E-CIFAR10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卡通画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178" y="210168"/>
            <a:ext cx="2609849" cy="102702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0047" y="502023"/>
            <a:ext cx="2083603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rgbClr val="2A76B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Ablation </a:t>
            </a:r>
            <a:endParaRPr lang="en-US" altLang="zh-CN" sz="2500" b="1" dirty="0">
              <a:solidFill>
                <a:srgbClr val="2A76B5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135" y="2400426"/>
            <a:ext cx="4914286" cy="205714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66" y="2124236"/>
            <a:ext cx="4619048" cy="2609524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27303" y="5159138"/>
            <a:ext cx="72176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 study of I2E components on I2E ImageNet with ResNet18. Dynamic thresholding, random selection, and compatibility with standard augmentations are all essential for achieving optimal performance.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卡通画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178" y="210168"/>
            <a:ext cx="2609849" cy="102702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0047" y="502023"/>
            <a:ext cx="2083603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rgbClr val="2A76B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Ablation </a:t>
            </a:r>
            <a:endParaRPr lang="en-US" altLang="zh-CN" sz="2500" b="1" dirty="0">
              <a:solidFill>
                <a:srgbClr val="2A76B5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85" y="2571750"/>
            <a:ext cx="4654550" cy="13957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58520" y="4671695"/>
            <a:ext cx="444944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Ablation on the timestep processing order. Presenting groups with higher event rates first  consistently yields the best performance.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710" y="1894840"/>
            <a:ext cx="3943985" cy="27501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70980" y="4533265"/>
            <a:ext cx="444944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Trade-off between timesteps, accuracy, and data compression on ImageNet. Using more timesteps improves accuracy at the cost of a lower data compression ratio.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卡通画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178" y="210168"/>
            <a:ext cx="2609849" cy="102702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0047" y="502023"/>
            <a:ext cx="2083603" cy="66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rgbClr val="2A76B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Visualization</a:t>
            </a:r>
            <a:endParaRPr lang="en-US" altLang="zh-CN" sz="2500" b="1" dirty="0">
              <a:solidFill>
                <a:srgbClr val="2A76B5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" name="图片 6" descr="图片包含 图示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845" y="4043793"/>
            <a:ext cx="2133600" cy="2133600"/>
          </a:xfrm>
          <a:prstGeom prst="rect">
            <a:avLst/>
          </a:prstGeom>
        </p:spPr>
      </p:pic>
      <p:pic>
        <p:nvPicPr>
          <p:cNvPr id="13" name="图片 12" descr="图示&#10;&#10;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16" y="4043793"/>
            <a:ext cx="2133600" cy="2133600"/>
          </a:xfrm>
          <a:prstGeom prst="rect">
            <a:avLst/>
          </a:prstGeom>
        </p:spPr>
      </p:pic>
      <p:pic>
        <p:nvPicPr>
          <p:cNvPr id="18" name="图片 17" descr="地图&#10;&#10;描述已自动生成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551" y="4043829"/>
            <a:ext cx="2133600" cy="2133600"/>
          </a:xfrm>
          <a:prstGeom prst="rect">
            <a:avLst/>
          </a:prstGeom>
        </p:spPr>
      </p:pic>
      <p:pic>
        <p:nvPicPr>
          <p:cNvPr id="20" name="图片 19" descr="一些文字和图案&#10;&#10;中度可信度描述已自动生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810" y="4043829"/>
            <a:ext cx="2133600" cy="213360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6"/>
          <a:stretch>
            <a:fillRect/>
          </a:stretch>
        </p:blipFill>
        <p:spPr>
          <a:xfrm>
            <a:off x="6348730" y="1736725"/>
            <a:ext cx="2133600" cy="213360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7"/>
          <a:stretch>
            <a:fillRect/>
          </a:stretch>
        </p:blipFill>
        <p:spPr>
          <a:xfrm>
            <a:off x="3706495" y="1736725"/>
            <a:ext cx="2133600" cy="213360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8"/>
          <a:stretch>
            <a:fillRect/>
          </a:stretch>
        </p:blipFill>
        <p:spPr>
          <a:xfrm>
            <a:off x="1064260" y="1736725"/>
            <a:ext cx="2133600" cy="2133600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9"/>
          <a:stretch>
            <a:fillRect/>
          </a:stretch>
        </p:blipFill>
        <p:spPr>
          <a:xfrm>
            <a:off x="8990965" y="1736725"/>
            <a:ext cx="2133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卡通画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178" y="210168"/>
            <a:ext cx="2609849" cy="102702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0047" y="502023"/>
            <a:ext cx="2083603" cy="66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rgbClr val="2A76B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Q&amp;A</a:t>
            </a:r>
            <a:endParaRPr lang="en-US" altLang="zh-CN" sz="2500" b="1" dirty="0">
              <a:solidFill>
                <a:srgbClr val="2A76B5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14492" y="4947834"/>
            <a:ext cx="57635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open-sourced all the tools and the I2E dataset. For more information, please scan the QR code below.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 descr="QR 代码&#10;&#10;描述已自动生成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354" y="2068865"/>
            <a:ext cx="2133600" cy="213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3351</Words>
  <Application>WPS 演示</Application>
  <PresentationFormat>宽屏</PresentationFormat>
  <Paragraphs>113</Paragraphs>
  <Slides>12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Times New Roman</vt:lpstr>
      <vt:lpstr>等线</vt:lpstr>
      <vt:lpstr>Wingdings 3</vt:lpstr>
      <vt:lpstr>Aptos</vt:lpstr>
      <vt:lpstr>Aptos</vt:lpstr>
      <vt:lpstr>Cambria Math</vt:lpstr>
      <vt:lpstr>微软雅黑</vt:lpstr>
      <vt:lpstr>Arial Unicode MS</vt:lpstr>
      <vt:lpstr>等线 Light</vt:lpstr>
      <vt:lpstr>Noto Sans CJK SC</vt:lpstr>
      <vt:lpstr>Office 主题​​</vt:lpstr>
      <vt:lpstr>1_Office 主题​​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瑞辰 马</dc:creator>
  <cp:lastModifiedBy>♡硪の心好冷、</cp:lastModifiedBy>
  <cp:revision>230</cp:revision>
  <dcterms:created xsi:type="dcterms:W3CDTF">2026-01-22T13:40:06Z</dcterms:created>
  <dcterms:modified xsi:type="dcterms:W3CDTF">2026-01-22T13:40:06Z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3FB2AE197331E2448055706998D66F30_42</vt:lpwstr>
  </property>
  <property fmtid="{D5CDD505-2E9C-101B-9397-08002B2CF9AE}" pid="3" name="KSOProductBuildVer">
    <vt:lpwstr>2052-12.1.2.23578</vt:lpwstr>
  </property>
</Properties>
</file>